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开场：一句话说明题目和交付——用乘客画像、行程与 13 项服务评分预测满意度概率，主指标 ROC AUC；最终 5 折 OOF 0.9602。强调这是三人协作、全流程可复现的课程项目。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背景讲业务价值：满意度与复购/口碑相关；飞行前识别高风险乘客可提前干预。任务定义为二分类、AUC、提交概率；评测约束是固定折、可追溯。右侧点出两个核心问题，底部强调项目评价标准不是单纯刷分。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数据体检三件事：只有到达延误少量缺失、无重复、无时间/实体列。重点讲 0 分语义：WiFi 0 分满意率 89% 而 1 分只有 39%，Online boarding 0 分 62% 对 1 分 10.5%，所以特征是 0→NaN + is_zero。右图是直接证据。底部说明三种划分，GroupKFold 只掉 0.001。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先讲五组特征和列数账本：base 22、A 13、B 11、C 2、T 1，全开 49。消融表是核心：同一组 A/B 对 LightGBM 是 0 或负，对 LR 是 +0.019~+0.022；树模型唯一稳定增量是 C+T +0.0014，而且全加 49 列 0.960048 反而不如精选 25 列 0.960191。结论一句话：特征的价值取决于模型能不能表达。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模型选型：LightGBM 0.9602 对 LR 0.9233，同折同特征只换模型，差 0.0369。三个理由：非线性交互、类别特征友好、Logloss 概率校准。右图是机制示意：K 棵树、叶值加权和、Sigmoid。底部强调这是一个受控对比，不是拍脑袋。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训练协议是固定 5 折、目标编码只在训练折 fit。学习曲线用 1000 轮 + early stopping 50，best_iter 489，valid AUC@best 0.96032，末轮 train-valid 差距约 0.0095，全程没有发散。超参只做了轻量敏感性：num_leaves 31/63/127，波动 &lt;0.0004，默认 63 已近平台；127 的 +0.000063 在 seed 噪声内，不称为当前最好。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主结果：5 折均值 0.960191，pooled OOF 0.960186，两者只是算法口径不同；bootstrap 95% CI 0.959715–0.960605。概率质量：LogLoss 0.2255、Brier 0.0604、ECE 0.0025，校准很好，不需要 Platt/isotonic。阈值 0.5 下的 Acc/Precision/Recall 只作描述，不用于选模。submission 299,844 行概率、无 NaN。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稳定性是 3 seeds × 固定 5 折，只换 random_state：0.960191 / 0.960159 / 0.960203，均值 0.960184，seed 间 std 只有 0.000023，极差 0.000045；而平均折内 std 是 0.000631，约 27 倍。所以换 seed 几乎不动，换折才是主要不确定性；C+T 的 +0.00136 约为 seed 极差 30 倍，但在该划分下仍不能称统计显著。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误差分析先看总体：0.5 阈值错误 51,490 条，7.36%；高置信 FP 14,497、FN 16,146。最有信息量的发现是错误率最高的不是差评，而是 Online boarding=4 的边界样本，12.0% 错误率。Business 以 FP 为主、Eco 以 FN 为主，说明分舱位做阈值/校准会有收益。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可解释性用 LightGBM 的 pred_contrib 算 TreeSHAP，采样 2 万行，T 组用逐折 OOF 编码避免自泄漏。前五：Online boarding 20.24%、Type of Travel 14.69%、WiFi 12.39%、Customer Type 8.44%、Class 8.30%。重点对比 gain 和 SHAP：Online boarding gain 42% 但 SHAP 20%，TE gain 只有 1% 但 SHAP 5.8%，说明两者回答不同问题。SHAP 不是因果。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结论四条：主结果、稳定性、概率质量、误差定位。局限要主动讲：镜像数据、没有官方 LB、3 seeds 只是方差估计、TE 对漂移敏感、SHAP 采样且非因果。下一步是官方数据补 LB、CatBoost/XGBoost 对比、分舱位校准。最后统一口径：创新点是严格防泄漏 + 精简化特征 + 分析型交付。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最后一页：P1 数据与特征、P2 模型与训练、P3 评估与交付，三条线都已完成；H1 冻结划分、H2 模型接口、H3 最终 submission、H4 三份报告全部闭环。感谢课程方、Kaggle 和公开镜像作者；剩余只有 PPT 导出、打印和彩排。进入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6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4206240"/>
            <a:ext cx="3108960" cy="3108960"/>
          </a:xfrm>
          <a:prstGeom prst="ellipse">
            <a:avLst/>
          </a:prstGeom>
          <a:solidFill>
            <a:srgbClr val="13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6F4F5"/>
                </a:solidFill>
                <a:latin typeface="Microsoft YaHei"/>
                <a:ea typeface="Microsoft YaHei"/>
                <a:cs typeface="Microsoft YaHei"/>
              </a:rPr>
              <a:t>KAGGLE PLAYGROUND SERIES · S6E10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航空乘客满意度预测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0" i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从数据、特征到模型与评估的全流程协作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154680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 i="0">
                <a:solidFill>
                  <a:srgbClr val="C7D2DF"/>
                </a:solidFill>
                <a:latin typeface="Microsoft YaHei"/>
                <a:ea typeface="Microsoft YaHei"/>
                <a:cs typeface="Microsoft YaHei"/>
              </a:rPr>
              <a:t>二分类 · ROC AUC · 提交概率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 i="0">
                <a:solidFill>
                  <a:srgbClr val="C7D2DF"/>
                </a:solidFill>
                <a:latin typeface="Microsoft YaHei"/>
                <a:ea typeface="Microsoft YaHei"/>
                <a:cs typeface="Microsoft YaHei"/>
              </a:rPr>
              <a:t>LightGBM + base+C+T · 5 折 OOF 0.9602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P1 数据与特征  ·  P2 模型与训练  ·  P3 评估与交付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9963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2026.10 · 课程项目答辩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234440"/>
            <a:ext cx="3063240" cy="4434840"/>
          </a:xfrm>
          <a:prstGeom prst="roundRect">
            <a:avLst>
              <a:gd name="adj" fmla="val 4000"/>
            </a:avLst>
          </a:prstGeom>
          <a:solidFill>
            <a:srgbClr val="143350"/>
          </a:solidFill>
          <a:ln w="9525">
            <a:solidFill>
              <a:srgbClr val="2A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57276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E6F4F5"/>
                </a:solidFill>
                <a:latin typeface="Microsoft YaHei"/>
                <a:ea typeface="Microsoft YaHei"/>
                <a:cs typeface="Microsoft YaHei"/>
              </a:rPr>
              <a:t>0.9602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1396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6C4D4"/>
                </a:solidFill>
                <a:latin typeface="Microsoft YaHei"/>
                <a:ea typeface="Microsoft YaHei"/>
                <a:cs typeface="Microsoft YaHei"/>
              </a:rPr>
              <a:t>OOF ROC 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2670047"/>
            <a:ext cx="2423160" cy="7315"/>
          </a:xfrm>
          <a:prstGeom prst="rect">
            <a:avLst/>
          </a:prstGeom>
          <a:solidFill>
            <a:srgbClr val="2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871215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699,635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43814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6C4D4"/>
                </a:solidFill>
                <a:latin typeface="Microsoft YaHei"/>
                <a:ea typeface="Microsoft YaHei"/>
                <a:cs typeface="Microsoft YaHei"/>
              </a:rPr>
              <a:t>训练样本 × 23 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3968496"/>
            <a:ext cx="2423160" cy="7315"/>
          </a:xfrm>
          <a:prstGeom prst="rect">
            <a:avLst/>
          </a:prstGeom>
          <a:solidFill>
            <a:srgbClr val="2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4169663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73659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6C4D4"/>
                </a:solidFill>
                <a:latin typeface="Microsoft YaHei"/>
                <a:ea typeface="Microsoft YaHei"/>
                <a:cs typeface="Microsoft YaHei"/>
              </a:rPr>
              <a:t>项 0–5 服务评分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525780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提交概率 · 不阈值化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01 / 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为什么做航空满意度预测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57839" cy="10972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57839" cy="731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Kaggle S6E10 · 航空乘客满意度预测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653796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50292" cy="10789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6642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63677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1984248"/>
            <a:ext cx="5532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8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满意度影响复购、口碑与客户终身价值；若能在飞行前识别高风险乘客，可在值机、登机、客舱服务环节提前干预。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98648"/>
            <a:ext cx="653796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008376"/>
            <a:ext cx="50292" cy="10789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0815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05409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任务定义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401568"/>
            <a:ext cx="5532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8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二分类：输入乘客画像、行程信息与 13 项服务评分，输出 satisfaction 的概率；主指标 ROC AUC。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15968"/>
            <a:ext cx="653796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25696"/>
            <a:ext cx="50292" cy="1078992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498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447141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评测约束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4818888"/>
            <a:ext cx="5532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8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提交概率、禁止阈值化；固定 StratifiedKFold 5 折；所有实验必须可复现、可追溯。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481328"/>
            <a:ext cx="4261104" cy="440740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1591056"/>
            <a:ext cx="50292" cy="41879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7808" y="166420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1993392"/>
            <a:ext cx="37490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哪些服务环节真正驱动满意度？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只用飞行前可获得的信息，模型能做到多准？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3273552"/>
            <a:ext cx="3703320" cy="914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7808" y="34290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评价标准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3730752"/>
            <a:ext cx="37490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不是刷到最高分，而是：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可复现 · 可解释 · 可部署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507492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最终分数 0.9602 已接近公开分析天花板，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项目重心转向评估与可解释性。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989320"/>
            <a:ext cx="11057839" cy="347472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6044184"/>
            <a:ext cx="10692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一句话：用可复现的实验回答“哪些服务信号真正重要”，而不是只报一个分数。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02 / 数据与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数据质量与一个反直觉事实：0 分不是“最差”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57839" cy="10972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57839" cy="731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Kaggle S6E10 · 航空乘客满意度预测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17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数据体检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3736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73736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仅 Arrival Delay：train 292 / test 130（0.04%）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重复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2121408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按除 id 外全列判重：0 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505456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2505456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无时间列、无实体列；train/test 无漂移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63240"/>
            <a:ext cx="5074920" cy="23317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9525">
            <a:solidFill>
              <a:srgbClr val="F5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172968"/>
            <a:ext cx="50292" cy="2112263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218688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 分 = “不适用”，不是“最差”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6393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评分列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6393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 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6393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 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88620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Inflight wifi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3886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8808" y="388620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39%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27024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Online boarding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2968" y="4270248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62%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8808" y="427024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10.5%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709160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 分的满意率反而更高 → 直接决定特征组 A：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0→NaN + is_zero 标记，不能把 0 当序数最低分。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33872" y="1752351"/>
            <a:ext cx="5797296" cy="321613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4_rating_vs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70639"/>
            <a:ext cx="5760720" cy="3179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52160" y="535838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评分–满意率：0 分处出现明显的非单调跳变（P1 EDA）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687568"/>
            <a:ext cx="11057839" cy="50292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7900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KFold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436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0.95877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39" y="577900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Stratified（冻结）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39" y="59436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0.958829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59" y="577900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GroupKFold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59436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0.95778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788152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按距离段分组只掉 0.001 → 模型学到的是可迁移服务信号，不是记住航线。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03 / 特征工程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五组可开关特征：价值取决于模型能否表达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57839" cy="10972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57839" cy="731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Kaggle S6E10 · 航空乘客满意度预测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173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特征组（全开 49 列）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737360"/>
          <a:ext cx="4411978" cy="32461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84617"/>
                <a:gridCol w="2424687"/>
                <a:gridCol w="589531"/>
                <a:gridCol w="713143"/>
              </a:tblGrid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列数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用标签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21 特征 + arr_delay_missing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0→NaN + is_zero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聚合 / 交互（隐含 A）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Flight Distance / Age 频次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Flight Distance 目标编码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全开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138928" y="1417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消融矩阵（5 折 OOF AUC，fold_v1，seed 42）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138928" y="1737360"/>
          <a:ext cx="6446516" cy="32461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9304"/>
                <a:gridCol w="616623"/>
                <a:gridCol w="1177190"/>
                <a:gridCol w="1121133"/>
                <a:gridCol w="1121133"/>
                <a:gridCol w="1121133"/>
              </a:tblGrid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特征组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维数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LightGBM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逻辑回归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0.958829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0.921550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+A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0.958800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−0.000029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0.940807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+0.019257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0.958650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−0.000179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0.943866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+0.022316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0.959413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+0.000584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0.921643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+0.000093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+C+T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0.960191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+0.001362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0.923300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+0.001750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A+B+C+T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0.960048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+0.001219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0.945162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+0.023612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66928" y="5230368"/>
            <a:ext cx="358444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340096"/>
            <a:ext cx="50292" cy="69494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21807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树模型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A/B 零增益或负增益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97296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聚合量是原始列的确定性函数，树自己能学；多列反而稀释采样。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5230368"/>
            <a:ext cx="358444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5340096"/>
            <a:ext cx="50292" cy="6949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5321807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线性模型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553212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A/B +0.019 ~ +0.022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5797296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 的非单调语义线性模型表达不了；is_zero 标记把它救回来。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2" y="5230368"/>
            <a:ext cx="358444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28432" y="5340096"/>
            <a:ext cx="50292" cy="69494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4" y="5321807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精选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553212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C+T 0.960191 &gt; 全加 0.960048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4" y="5797296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树模型唯一稳定增量是频次 + 目标编码；全加不如精选。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236208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注：B 组 dist_bin 已改为全量固定边界后重跑（run_id 以 _abl2 结尾）；主模型 base+C+T 不含 B，主分数不变。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04 / 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主力模型：LightGBM，线性模型作为对照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57839" cy="10972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57839" cy="731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Kaggle S6E10 · 航空乘客满意度预测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44752"/>
            <a:ext cx="51663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54480"/>
            <a:ext cx="50292" cy="1563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5727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LightGBM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8288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0.9602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48716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OOF AUC · base+C+T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6976" y="1600200"/>
            <a:ext cx="7315" cy="141732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5727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LogisticRegression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8288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0.9233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4871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OOF AUC · 同折同特征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81635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Δ = +0.0369，线性模型表达不了高阶交互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310128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2918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非线性与交互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56616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舱位 × 旅程类型 × 延误的耦合，GBDT 天然拟合。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023360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0507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类别特征友好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279392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直接处理 category，不用大规模 One-Hot。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73659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71830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概率校准好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992624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Logloss 目标输出良好校准的概率，满足“提交概率”。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5920" y="1444752"/>
            <a:ext cx="5718918" cy="268833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2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208" y="1463040"/>
            <a:ext cx="5682342" cy="2651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97880" y="4160520"/>
            <a:ext cx="571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LightGBM：K 棵树 → 叶值加权和 → Sigmoid → 概率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532120"/>
            <a:ext cx="11057839" cy="50292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5605272"/>
            <a:ext cx="1065550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选型不是拍脑袋：同折、同特征、只换模型，LightGBM 领先 0.0369。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05 / 训练与调参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训练协议与过拟合控制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57839" cy="10972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57839" cy="731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Kaggle S6E10 · 航空乘客满意度预测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99032"/>
            <a:ext cx="5751576" cy="346557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2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5715000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4919472"/>
            <a:ext cx="5897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fold 0 学习曲线：train/valid AUC vs boosting round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417320"/>
            <a:ext cx="489204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1527048"/>
            <a:ext cx="5029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15453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5 折冻结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847088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StratifiedKFold · seed 42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313432"/>
            <a:ext cx="489204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2423160"/>
            <a:ext cx="50292" cy="5669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244144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早停轮次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43200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best_iter ≈ 489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209544"/>
            <a:ext cx="489204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3319272"/>
            <a:ext cx="50292" cy="5669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33375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train–valid 差距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639312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末轮约 0.0095，全程未发散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2245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num_leaves 敏感性（其余默认）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675120" y="4526280"/>
          <a:ext cx="4846319" cy="1143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48899"/>
                <a:gridCol w="1748672"/>
                <a:gridCol w="1648748"/>
              </a:tblGrid>
              <a:tr h="285750"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num_leaves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OOF AUC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 63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0.959895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−0.000296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63（默认）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0.960191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0.960254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+0.000063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675120" y="580644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31→127 波动 &lt; 0.0004；127 的 +0.000063 与 3 seeds 极差 0.000045 同量级，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属噪声，不作为“当前最好”。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06 / 主结果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主结果：OOF AUC 0.9602，概率校准优秀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57839" cy="10972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57839" cy="731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Kaggle S6E10 · 航空乘客满意度预测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89888"/>
            <a:ext cx="267004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4630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0.960191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86537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OOF AUC（5 折均值）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389888"/>
            <a:ext cx="267004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4630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0.960186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86537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pooled AUC（OOF 拼接）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389888"/>
            <a:ext cx="267004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4630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0.002479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186537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ECE（10 箱）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1389888"/>
            <a:ext cx="267004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4630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0.225458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186537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LogLoss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1702" y="2560320"/>
            <a:ext cx="3430890" cy="282549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3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90" y="2578608"/>
            <a:ext cx="3394314" cy="2788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5413248"/>
            <a:ext cx="35204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校准：预测概率 vs 实际频率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5885" y="2560320"/>
            <a:ext cx="2709629" cy="282549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3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173" y="2578608"/>
            <a:ext cx="2673053" cy="2788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251960" y="5413248"/>
            <a:ext cx="2697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混淆矩阵 @ 0.5（仅描述）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2560320"/>
            <a:ext cx="4343400" cy="30632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9480" y="2670048"/>
            <a:ext cx="50292" cy="28437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69748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怎么读这组数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03580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95% 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035808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[0.959715, 0.960605]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43814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阈值 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43814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Prec 0.9272 · Rec 0.9051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84048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84048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0.9160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4242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242816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299,844 行概率，无 NaN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4754880"/>
            <a:ext cx="39776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AUC 是排序指标；阈值指标只说明 0.5 下的行为。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ECE 0.25% → 概率可直接提交。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897880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最终交付 run_id=P2_final_lgbm_CT_1031_s42_final ｜ 5 折测试集平均 ｜ 299,844 行概率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07 / 稳定性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3 seeds × 5 folds：换 seed 几乎不动，换折才是主因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57839" cy="10972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57839" cy="731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Kaggle S6E10 · 航空乘客满意度预测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71600"/>
            <a:ext cx="358444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50292" cy="6035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447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0.960184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2880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seed 均值 AUC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58444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81328"/>
            <a:ext cx="50292" cy="60350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14447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0.000023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182880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seed 间 std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1371600"/>
            <a:ext cx="358444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2" y="1481328"/>
            <a:ext cx="50292" cy="60350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4447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0.000631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182880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平均折内 std（约 27×）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472017"/>
            <a:ext cx="6757416" cy="2727781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3_seed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90305"/>
            <a:ext cx="6720840" cy="269120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5230368"/>
            <a:ext cx="6720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 seed 的 OOF AUC；虚线为 3-seed 均值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452360" y="2487168"/>
          <a:ext cx="4160519" cy="2148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4050"/>
                <a:gridCol w="1161075"/>
                <a:gridCol w="1112697"/>
                <a:gridCol w="1112697"/>
              </a:tblGrid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9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seed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OOF AUC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fold std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0.960191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0.000583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0.960159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0.000650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−0.000032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0.960203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0.000660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+0.000012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980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0.960184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0.000631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−0.000007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52360" y="4800600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seed 极差 0.000045，远小于折间 std。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C+T 的 +0.001362 仍约为 seed 极差的 30 倍，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但 3 seeds 只是方差估计，不是正式显著性检验。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08 / 误差分析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错得最多的不是差评，而是决策边界样本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57839" cy="10972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57839" cy="731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Kaggle S6E10 · 航空乘客满意度预测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62180"/>
            <a:ext cx="6025896" cy="355075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_bad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80468"/>
            <a:ext cx="5989320" cy="35141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5321808"/>
            <a:ext cx="5989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分群错误率（0.5 阈值，仅用于定位）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41732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7.36%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45389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0.5 阈值错误率（51,490 条）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984248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14,497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02082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高置信 FP：y=0 且 pred≥0.8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551176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16,146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58775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高置信 FN：y=1 且 pred≤0.2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246120"/>
            <a:ext cx="4709160" cy="1024128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9525">
            <a:solidFill>
              <a:srgbClr val="F5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3355848"/>
            <a:ext cx="50292" cy="8046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3346704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错误率最高的群：Online boarding =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621024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12.0%  （错误 25,310 / 该群 210,950）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434840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6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Business 以 FP 为主（16,485）：模型偏乐观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6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Eco 以 FN 为主（20,923）：模型偏悲观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6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Online boarding=4 处于满意/不满意边界，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6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 标签本身可能带主观随机性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879592"/>
            <a:ext cx="1069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这些误判样本不是“差评”，而是评分组合卡在边界；按舱位做阈值/校准比继续调参更实际。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09 / 可解释性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SHAP：模型真正在用哪些信号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57839" cy="10972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57839" cy="731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Kaggle S6E10 · 航空乘客满意度预测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2979" y="1399031"/>
            <a:ext cx="3965536" cy="437997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_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67" y="1417319"/>
            <a:ext cx="3928960" cy="434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5806440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mean |SHAP|，20,000 行采样，OOF 目标编码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892040" y="1417320"/>
          <a:ext cx="3886200" cy="2331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"/>
                <a:gridCol w="2240280"/>
                <a:gridCol w="1051560"/>
              </a:tblGrid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排名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SHAP 占比</a:t>
                      </a:r>
                    </a:p>
                  </a:txBody>
                  <a:tcPr marL="54864" marR="54864" marT="18288" marB="18288" anchor="ctr">
                    <a:solidFill>
                      <a:srgbClr val="0F2740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Online boarding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1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20.24%</a:t>
                      </a:r>
                    </a:p>
                  </a:txBody>
                  <a:tcPr marL="54864" marR="54864" marT="18288" marB="18288" anchor="ctr">
                    <a:solidFill>
                      <a:srgbClr val="E6F4F5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Type of Travel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14.69%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Inflight wifi 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12.39%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Customer Type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8.44%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 i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9006840" y="1417320"/>
            <a:ext cx="2606040" cy="233172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6840" y="1527048"/>
            <a:ext cx="50292" cy="2112263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15544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gain vs SHAP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1847088"/>
            <a:ext cx="233172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Online boarding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gain 42.1% → SHAP 20.2%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Flight Distance__te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gain 1.06% → SHAP 5.82%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977639"/>
            <a:ext cx="67208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gain 回答“模型在哪里分裂”，SHAP 回答“特征把预测推了多少”，两者不能互相替代。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TE 的 SHAP 贡献 5.82% 高于 gain 1.06%：它改变很多行的分数，但分裂次数少。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T 组用逐折 OOF 编码，避免自泄漏；SHAP 不是因果，不能回答“提高 WiFi 会不会更满意”。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10 / 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结论、局限与下一步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57839" cy="10972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57839" cy="731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Kaggle S6E10 · 航空乘客满意度预测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63040"/>
            <a:ext cx="27889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50292" cy="1197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020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主结果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OOF 0.960191（5 折均值）/ 0.960186（pooled），95% CI 0.9597–0.9606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1463040"/>
            <a:ext cx="27889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8" y="1572768"/>
            <a:ext cx="50292" cy="1197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60020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稳定性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1920240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 seeds 均值 0.960184，seed std 0.000023；折间 std 0.000631 是主因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017520"/>
            <a:ext cx="27889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127248"/>
            <a:ext cx="50292" cy="119786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54679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概率质量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ECE 0.002479，LogLoss 0.2255；概率可直接提交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47288" y="3017520"/>
            <a:ext cx="27889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47288" y="3127248"/>
            <a:ext cx="50292" cy="11978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3154679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误差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474720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错误集中在 Online boarding=4 边界样本；Business FP / Eco FN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1463040"/>
            <a:ext cx="2788920" cy="29718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3960" y="1572768"/>
            <a:ext cx="50292" cy="2752344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9408" y="160020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局限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1901952"/>
            <a:ext cx="248716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公开镜像数据，不是官方原文件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没有官方 Public LB 提交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3 seeds 不是正式显著性检验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目标编码对分布漂移敏感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SHAP 为 2 万行采样，非因果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709160"/>
            <a:ext cx="7223760" cy="1051560"/>
          </a:xfrm>
          <a:prstGeom prst="roundRect">
            <a:avLst>
              <a:gd name="adj" fmla="val 5000"/>
            </a:avLst>
          </a:prstGeom>
          <a:solidFill>
            <a:srgbClr val="E6F4F5"/>
          </a:solidFill>
          <a:ln w="9525">
            <a:solidFill>
              <a:srgbClr val="B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818888"/>
            <a:ext cx="50292" cy="832103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818888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084064"/>
            <a:ext cx="6858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官方数据补 LB · CatBoost/XGBoost 横向对比 · 分舱位校准与业务阈值 · 部署后概率校准监控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709160"/>
            <a:ext cx="3657600" cy="105156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482803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统一口径 · 创新点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510235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严格防泄漏协议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 精简化特征 + 分析型交付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结论：0.96 的天花板已被卷平；本项目的价值在于把“为什么可信”讲清楚，而不是再堆一个模型。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11 / 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分工、交接与致谢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57839" cy="10972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57839" cy="731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Kaggle S6E10 · 航空乘客满意度预测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17320"/>
            <a:ext cx="361188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27048"/>
            <a:ext cx="50292" cy="229514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54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82880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数据与特征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4028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·  数据字典 / EDA / 划分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551176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·  特征 A/B/C/T 与消融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862072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·  特征字典 / 泄漏排查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52044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1188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527048"/>
            <a:ext cx="50292" cy="22951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554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82880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模型与训练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24028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·  LightGBM / LR 对照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551176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·  调参敏感性与学习曲线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862072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·  最终模型 / submission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52044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2" y="1417320"/>
            <a:ext cx="361188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2" y="1527048"/>
            <a:ext cx="50292" cy="2295144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1554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182880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评估与交付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224028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·  评估协议 / 校准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2551176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·  3 seeds / SHAP / badcase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2862072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·  PPT 统稿与验收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352044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206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关键交接 H1–H4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526280"/>
            <a:ext cx="2514600" cy="566928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459943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H1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" y="4608576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冻结划分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07208" y="4599432"/>
            <a:ext cx="228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18688" y="4526280"/>
            <a:ext cx="2514600" cy="566928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5848" y="459943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H2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5615" y="4608576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模型接口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58968" y="4599432"/>
            <a:ext cx="228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70448" y="4526280"/>
            <a:ext cx="2514600" cy="566928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07608" y="459943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H3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7376" y="4608576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最终 submission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728" y="4599432"/>
            <a:ext cx="228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22208" y="4526280"/>
            <a:ext cx="2514600" cy="566928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59368" y="459943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H4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89136" y="4608576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三份报告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62488" y="4599432"/>
            <a:ext cx="228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440680"/>
            <a:ext cx="11057839" cy="658368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" y="551383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感谢课程方、Kaggle 与公开镜像作者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1567" y="551383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Q &amp; 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199632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工程验收：119 pytest · verify 34/34 · 全链路可重建 ｜ 剩余：PPT 导出 · 双面打印 · 预答辩彩排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航空乘客满意度预测 · Kaggle S6E10</dc:title>
  <dc:subject>数据、特征、模型与评估全流程</dc:subject>
  <dc:creator>P1 / P2 / P3 课程项目组</dc:creator>
  <cp:keywords/>
  <dc:description>由 scripts/make_ppt.py 生成；数字来自 reports/exp_log.csv 与 reports/eval/。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